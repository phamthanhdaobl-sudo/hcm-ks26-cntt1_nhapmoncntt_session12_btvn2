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7D26"/>
                </a:solidFill>
                <a:latin typeface="Arial"/>
              </a:defRPr>
            </a:pPr>
            <a:r>
              <a:t>PTIT-LEARNING  /  TÍNH NĂNG MỚI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Lớp học ảo kết nối lịch học, tương tác và điểm danh trong một nơi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ECDDA"/>
                </a:solidFill>
                <a:latin typeface="Arial"/>
              </a:defRPr>
            </a:pPr>
            <a:r>
              <a:t>Học trực tuyến linh hoạt • Theo dõi tiến độ rõ ràng • Dữ liệu tập trung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2926080" cy="731520"/>
          </a:xfrm>
          <a:prstGeom prst="roundRect">
            <a:avLst/>
          </a:prstGeom>
          <a:solidFill>
            <a:srgbClr val="F27D26"/>
          </a:solidFill>
          <a:ln>
            <a:solidFill>
              <a:srgbClr val="F27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2000" b="1">
                <a:solidFill>
                  <a:srgbClr val="102A43"/>
                </a:solidFill>
                <a:latin typeface="Arial"/>
              </a:defRPr>
            </a:pPr>
            <a:r>
              <a:t>HỌC VIÊN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516636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2000" b="1">
                <a:solidFill>
                  <a:srgbClr val="102A43"/>
                </a:solidFill>
                <a:latin typeface="Arial"/>
              </a:defRPr>
            </a:pPr>
            <a:r>
              <a:t>GIẢNG VIÊN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516636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2000" b="1">
                <a:solidFill>
                  <a:srgbClr val="102A43"/>
                </a:solidFill>
                <a:latin typeface="Arial"/>
              </a:defRPr>
            </a:pPr>
            <a:r>
              <a:t>QUẢN TRỊ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Lộ trình học tập: từ đăng ký đến báo cáo tiến độ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7D26"/>
                </a:solidFill>
                <a:latin typeface="Arial"/>
              </a:defRPr>
            </a:pPr>
            <a:r>
              <a:t>01  TRƯỚC BUỔI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7D26"/>
                </a:solidFill>
                <a:latin typeface="Arial"/>
              </a:defRPr>
            </a:pPr>
            <a:r>
              <a:t>02  TRONG BUỔI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7D26"/>
                </a:solidFill>
                <a:latin typeface="Arial"/>
              </a:defRPr>
            </a:pPr>
            <a:r>
              <a:t>03  SAU BUỔI HỌC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Đăng ký khóa học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Xem lịch &amp; nhận nhắc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2926080" cy="731520"/>
          </a:xfrm>
          <a:prstGeom prst="roundRect">
            <a:avLst/>
          </a:prstGeom>
          <a:solidFill>
            <a:srgbClr val="F27D26"/>
          </a:solidFill>
          <a:ln>
            <a:solidFill>
              <a:srgbClr val="F27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Vào lớp học 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24612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Học, chat, hỏi đáp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52628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Ghi nhận điểm danh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6596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Xem tài liệu / bản ghi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2926080" cy="731520"/>
          </a:xfrm>
          <a:prstGeom prst="roundRect">
            <a:avLst/>
          </a:prstGeom>
          <a:solidFill>
            <a:srgbClr val="E5EEF6"/>
          </a:solidFill>
          <a:ln>
            <a:solidFill>
              <a:srgbClr val="E5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800" b="1">
                <a:solidFill>
                  <a:srgbClr val="102A43"/>
                </a:solidFill>
                <a:latin typeface="Arial"/>
              </a:defRPr>
            </a:pPr>
            <a:r>
              <a:t>Xem tiến độ &amp; kết quả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2697480"/>
            <a:ext cx="0" cy="502920"/>
          </a:xfrm>
          <a:prstGeom prst="line">
            <a:avLst/>
          </a:prstGeom>
          <a:ln w="38100">
            <a:solidFill>
              <a:srgbClr val="F27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611880" y="2331720"/>
            <a:ext cx="822960" cy="1280160"/>
          </a:xfrm>
          <a:prstGeom prst="line">
            <a:avLst/>
          </a:prstGeom>
          <a:ln w="38100">
            <a:solidFill>
              <a:srgbClr val="F27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2697480"/>
            <a:ext cx="0" cy="502920"/>
          </a:xfrm>
          <a:prstGeom prst="line">
            <a:avLst/>
          </a:prstGeom>
          <a:ln w="38100">
            <a:solidFill>
              <a:srgbClr val="F27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3977639"/>
            <a:ext cx="0" cy="502921"/>
          </a:xfrm>
          <a:prstGeom prst="line">
            <a:avLst/>
          </a:prstGeom>
          <a:ln w="38100">
            <a:solidFill>
              <a:srgbClr val="F27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2360" y="3611880"/>
            <a:ext cx="731519" cy="1280160"/>
          </a:xfrm>
          <a:prstGeom prst="line">
            <a:avLst/>
          </a:prstGeom>
          <a:ln w="38100">
            <a:solidFill>
              <a:srgbClr val="F27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0" y="2697480"/>
            <a:ext cx="0" cy="502920"/>
          </a:xfrm>
          <a:prstGeom prst="line">
            <a:avLst/>
          </a:prstGeom>
          <a:ln w="38100">
            <a:solidFill>
              <a:srgbClr val="F27D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A"/>
                </a:solidFill>
                <a:latin typeface="Arial"/>
              </a:defRPr>
            </a:pPr>
            <a:r>
              <a:t>Quyền truy cập theo vai trò  •  Thông báo tự động  •  Nhật ký phục vụ kiểm 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Một lớp học ảo tốt phải dễ tham gia và dễ kiểm soát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46120" cy="777240"/>
          </a:xfrm>
          <a:prstGeom prst="roundRect">
            <a:avLst/>
          </a:prstGeom>
          <a:solidFill>
            <a:srgbClr val="F27D26"/>
          </a:solidFill>
          <a:ln>
            <a:solidFill>
              <a:srgbClr val="F27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2000" b="1">
                <a:solidFill>
                  <a:srgbClr val="102A43"/>
                </a:solidFill>
                <a:latin typeface="Arial"/>
              </a:defRPr>
            </a:pPr>
            <a:r>
              <a:t>DỄ THAM 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Lịch học rõ ràng, vào lớp theo quyền đăng ký.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246120" cy="777240"/>
          </a:xfrm>
          <a:prstGeom prst="roundRect">
            <a:avLst/>
          </a:prstGeom>
          <a:solidFill>
            <a:srgbClr val="F27D26"/>
          </a:solidFill>
          <a:ln>
            <a:solidFill>
              <a:srgbClr val="F27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2000" b="1">
                <a:solidFill>
                  <a:srgbClr val="102A43"/>
                </a:solidFill>
                <a:latin typeface="Arial"/>
              </a:defRPr>
            </a:pPr>
            <a:r>
              <a:t>TƯƠNG TÁC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8803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Chat, giơ tay và chia sẻ tài liệu.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246120" cy="777240"/>
          </a:xfrm>
          <a:prstGeom prst="roundRect">
            <a:avLst/>
          </a:prstGeom>
          <a:solidFill>
            <a:srgbClr val="F27D26"/>
          </a:solidFill>
          <a:ln>
            <a:solidFill>
              <a:srgbClr val="F27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2000" b="1">
                <a:solidFill>
                  <a:srgbClr val="102A43"/>
                </a:solidFill>
                <a:latin typeface="Arial"/>
              </a:defRPr>
            </a:pPr>
            <a:r>
              <a:t>ĐO LƯỜNG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88036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Điểm danh, thời lượng học và báo cáo tiến độ.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DDA"/>
                </a:solidFill>
                <a:latin typeface="Arial"/>
              </a:defRPr>
            </a:pPr>
            <a:r>
              <a:t>Thiết kế: nền Navy • chữ trắng • Accent cam • tương phản cao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